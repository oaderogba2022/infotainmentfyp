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516B0D-FA4C-43D1-8589-3CF50DEBFF58}" v="7" dt="2025-04-28T13:56:43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34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F441-7471-F17F-1CEE-90E623E3D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B51EC-6DE2-BFD7-186A-FEEE24DAA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2F3D1-8C21-0F33-1643-A041988F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E2B6-C2EB-C060-CB67-D8E37D3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31C33-346A-D36F-FEE3-0B2A9519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3062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6948-D14A-A9BF-A33C-E3C63BCC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2F8E6-5FEE-6B5A-09B6-9EBC703E5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18E3C-36A4-1913-B3BE-E53C1927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3325-2155-8BB1-8270-20FB36B1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BB168-A2AE-01BE-4BF5-269F135C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584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955A-3A5F-503D-1975-20A93040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6F5DB-D80F-AD8C-ACEF-E7D0ACB60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48956-AC2A-A5BC-D6C1-45AE412E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6A080-FAAF-B6FC-D119-34D732F1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C6470-5562-776B-039A-EEA2A300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969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1472-64AE-FAE5-03FB-CD95D4E1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0C2E4-900D-4A0B-2484-5331FAA84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9BF4D-3D9F-09A7-11B2-92A468A4B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1927C-33F3-C56A-4750-A0957E0F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7DA61-4886-041F-F20D-6AF1BB63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9CA17-9F1A-C19C-EEE2-800B960E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067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EEAE-C6A0-ABE7-4212-D7E03CAB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C04BB-BCCD-65DF-2252-066302DF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CB1E8-3ED2-B0E0-37B0-FB8952FCA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F95A0-C334-EA74-5710-8936A13CF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AA5C2-5FAE-843D-1961-33E742A8D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3EE98-F983-C930-B86E-F996D89BC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C723B-D60E-7D1F-2161-71BA1A02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9141D-CE42-2F18-98BC-059E67EB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724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E4F6-EBD3-5F2E-32D9-6FE1F474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9C767-2DFE-FFBA-C0D9-139EB857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67216-6894-8B88-4639-97072970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9433D-2792-FB4E-0DEB-DC0D43E0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612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6C9BD-EE31-78EF-80EA-A550F4F4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D212A-F8D4-99C0-DAB3-F34E8879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51B2C-A9C8-4B7F-D660-45330633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379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E955-A9B7-2069-7E29-3D9D232C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E446-91E2-24C4-2684-BAA4E98DA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EEB63-3E6B-DD35-3A67-D415C137F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19AEF-BC1C-59E5-809C-1D9F1545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4F47A-5ED5-C174-508A-D111983F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69663-D4E3-6881-F57B-43E0C929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98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509E-FCDD-9ED1-5B1F-55699463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D5C78-84CC-78F6-1A9E-067923930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A9939-2C12-F19F-08F5-A6FA10322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BEB8B-E385-BB3A-EABC-661DF5AB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67E89-6566-5B01-B1BF-27BC68C9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C6089-9022-6B20-F39F-CF3D3719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661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6708F-4F5A-9E5B-C5E3-63C8B8862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399A-9068-6F4D-D9F8-07AF3A4B5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EE2D1-065C-BA6D-9094-AC4C6C27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398D6-0795-2912-A7E8-40311484E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000F4-5809-BF6E-6EA6-24EA73CD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671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14ED1-DB3B-28EA-E348-F76B8D2D1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43383-4ACF-8251-29BC-CC38E6D5F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B329-AA01-E01B-43BE-6BFCC9E3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6B475-682E-D3B4-F539-E4262D63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EC440-6DA7-0A99-2042-55E1B3BE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136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6CBEE-6F49-1AE1-4D3B-3102E399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24DDA-CC27-AF87-400E-89218EE46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93D6C-349A-EF4D-38D4-59F10ED1D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E9D98-A110-4A25-A424-FF6A240D080F}" type="datetimeFigureOut">
              <a:rPr lang="en-IE" smtClean="0"/>
              <a:t>28/04/2025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2B570-1A91-CBD5-E4A9-E23F17AF3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E667B-ADC0-305D-FB5E-E8BE8485F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9AE53-1E01-445F-8EC3-C527CF85C73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428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4.x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 in a hologram">
            <a:extLst>
              <a:ext uri="{FF2B5EF4-FFF2-40B4-BE49-F238E27FC236}">
                <a16:creationId xmlns:a16="http://schemas.microsoft.com/office/drawing/2014/main" id="{49A07446-B627-D47C-B4F5-50337CF89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4B329-AE3F-7863-CE32-E9A87042AAD0}"/>
              </a:ext>
            </a:extLst>
          </p:cNvPr>
          <p:cNvSpPr txBox="1"/>
          <p:nvPr/>
        </p:nvSpPr>
        <p:spPr>
          <a:xfrm>
            <a:off x="101600" y="101600"/>
            <a:ext cx="42672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iome" panose="020B0502040204020203" pitchFamily="34" charset="0"/>
                <a:ea typeface="STXihei" panose="020B0503020204020204" pitchFamily="2" charset="-122"/>
                <a:cs typeface="Biome" panose="020B0502040204020203" pitchFamily="34" charset="0"/>
              </a:rPr>
              <a:t>AUTOSYNC Infotainment System</a:t>
            </a:r>
            <a:endParaRPr lang="en-IE" sz="3600" b="1" dirty="0">
              <a:solidFill>
                <a:schemeClr val="bg1"/>
              </a:solidFill>
              <a:latin typeface="Biome" panose="020B0502040204020203" pitchFamily="34" charset="0"/>
              <a:ea typeface="STXihei" panose="020B0503020204020204" pitchFamily="2" charset="-122"/>
              <a:cs typeface="Biome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30114-106F-74FD-8CB5-B3B33D1CB188}"/>
              </a:ext>
            </a:extLst>
          </p:cNvPr>
          <p:cNvSpPr txBox="1"/>
          <p:nvPr/>
        </p:nvSpPr>
        <p:spPr>
          <a:xfrm>
            <a:off x="9768114" y="5965371"/>
            <a:ext cx="290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Olamide Aderogba</a:t>
            </a:r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684D6-7097-1E21-D722-08CD3867E11D}"/>
              </a:ext>
            </a:extLst>
          </p:cNvPr>
          <p:cNvSpPr txBox="1"/>
          <p:nvPr/>
        </p:nvSpPr>
        <p:spPr>
          <a:xfrm>
            <a:off x="10072914" y="6270171"/>
            <a:ext cx="201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G00401971</a:t>
            </a:r>
            <a:endParaRPr lang="en-I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37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driving a car&#10;&#10;AI-generated content may be incorrect.">
            <a:extLst>
              <a:ext uri="{FF2B5EF4-FFF2-40B4-BE49-F238E27FC236}">
                <a16:creationId xmlns:a16="http://schemas.microsoft.com/office/drawing/2014/main" id="{BA348D83-DE11-EA18-702D-43A1D67776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16BB327-7AA9-4EC5-815F-9D8E6BC5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7A49F-342C-4120-8630-3D52444F1C17}"/>
              </a:ext>
            </a:extLst>
          </p:cNvPr>
          <p:cNvSpPr/>
          <p:nvPr/>
        </p:nvSpPr>
        <p:spPr>
          <a:xfrm>
            <a:off x="159658" y="145143"/>
            <a:ext cx="5152571" cy="6560458"/>
          </a:xfrm>
          <a:prstGeom prst="rect">
            <a:avLst/>
          </a:prstGeom>
          <a:solidFill>
            <a:schemeClr val="dk1">
              <a:alpha val="85000"/>
            </a:schemeClr>
          </a:solidFill>
          <a:ln w="28575">
            <a:solidFill>
              <a:schemeClr val="bg1">
                <a:alpha val="96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4F927-1A22-072D-DCC9-F1AD2A9F0C83}"/>
              </a:ext>
            </a:extLst>
          </p:cNvPr>
          <p:cNvSpPr txBox="1"/>
          <p:nvPr/>
        </p:nvSpPr>
        <p:spPr>
          <a:xfrm>
            <a:off x="1799771" y="217715"/>
            <a:ext cx="3077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Research</a:t>
            </a:r>
            <a:endParaRPr lang="en-IE" sz="28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8CDAD3-71EB-EA20-DF11-E948679D5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331" y="479325"/>
            <a:ext cx="4073526" cy="12863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95883F-E61F-6CC7-3CD3-36EE42086661}"/>
              </a:ext>
            </a:extLst>
          </p:cNvPr>
          <p:cNvSpPr txBox="1"/>
          <p:nvPr/>
        </p:nvSpPr>
        <p:spPr>
          <a:xfrm>
            <a:off x="409139" y="907112"/>
            <a:ext cx="432525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E" sz="1200" b="1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Research</a:t>
            </a:r>
            <a:endParaRPr lang="en-IE" sz="1200" dirty="0">
              <a:solidFill>
                <a:schemeClr val="bg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Idea Development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     Idea generated based off the BMW (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Idrive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Began as Spotify web page (Presented in proposal)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Pivoted to car infotainment system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Discovering key implementations into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Components/Tools </a:t>
            </a:r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HW: Laptop (Mac), webcam,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SW: React, Node.js, Python,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Google Maps API, OpenAI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Shifted from Spotify API, ESP32-S3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Skainet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to local music, OpenAI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Research &amp; Synthesis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      Analysis within car – Unique idea &amp;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NHTSA/RSA stats for hands-free focus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APIs (Spotify, Google Maps, OpenAI), gesture methods (TensorFlow,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Sources: API docs, papers [5], [6]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BMV Gesture Control within cars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Challenges </a:t>
            </a:r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Spotify URI delays (Sprints 1–2); OAuth fix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ESP32-S3 setup delays (Sprint 3); dropped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TensorFlow Object detection issues (Sprint 7); used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References </a:t>
            </a:r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[1] Google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2025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[5] Kim &amp; Park, 2023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[3]</a:t>
            </a:r>
            <a:r>
              <a:rPr lang="en-IE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SockeT.IO, 2025</a:t>
            </a:r>
          </a:p>
          <a:p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08A1D-8636-6F4D-3F3B-59D890665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934" y="2158928"/>
            <a:ext cx="4264923" cy="2321632"/>
          </a:xfrm>
          <a:prstGeom prst="rect">
            <a:avLst/>
          </a:prstGeom>
        </p:spPr>
      </p:pic>
      <p:pic>
        <p:nvPicPr>
          <p:cNvPr id="17" name="Picture 16" descr="A car dashboard with a gps on the dashboard&#10;&#10;AI-generated content may be incorrect.">
            <a:extLst>
              <a:ext uri="{FF2B5EF4-FFF2-40B4-BE49-F238E27FC236}">
                <a16:creationId xmlns:a16="http://schemas.microsoft.com/office/drawing/2014/main" id="{365CCE59-3692-D50B-192D-E961F3B3B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710" y="4634169"/>
            <a:ext cx="1257041" cy="2071432"/>
          </a:xfrm>
          <a:prstGeom prst="rect">
            <a:avLst/>
          </a:prstGeom>
        </p:spPr>
      </p:pic>
      <p:pic>
        <p:nvPicPr>
          <p:cNvPr id="19" name="Picture 18" descr="A car dashboard with a small figure on the dashboard&#10;&#10;AI-generated content may be incorrect.">
            <a:extLst>
              <a:ext uri="{FF2B5EF4-FFF2-40B4-BE49-F238E27FC236}">
                <a16:creationId xmlns:a16="http://schemas.microsoft.com/office/drawing/2014/main" id="{87973F95-7E19-7335-0E27-925AFAE874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252" y="4634169"/>
            <a:ext cx="1231091" cy="2108638"/>
          </a:xfrm>
          <a:prstGeom prst="rect">
            <a:avLst/>
          </a:prstGeom>
        </p:spPr>
      </p:pic>
      <p:pic>
        <p:nvPicPr>
          <p:cNvPr id="21" name="Picture 20" descr="Inside a car with a steering wheel and dashboard&#10;&#10;AI-generated content may be incorrect.">
            <a:extLst>
              <a:ext uri="{FF2B5EF4-FFF2-40B4-BE49-F238E27FC236}">
                <a16:creationId xmlns:a16="http://schemas.microsoft.com/office/drawing/2014/main" id="{C372CF99-9756-6935-E775-E55CD8E2A1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844" y="4627874"/>
            <a:ext cx="1732518" cy="2108638"/>
          </a:xfrm>
          <a:prstGeom prst="rect">
            <a:avLst/>
          </a:prstGeom>
        </p:spPr>
      </p:pic>
      <p:pic>
        <p:nvPicPr>
          <p:cNvPr id="23" name="Picture 22" descr="A car driving on a road&#10;&#10;AI-generated content may be incorrect.">
            <a:extLst>
              <a:ext uri="{FF2B5EF4-FFF2-40B4-BE49-F238E27FC236}">
                <a16:creationId xmlns:a16="http://schemas.microsoft.com/office/drawing/2014/main" id="{CAB26265-83DD-37BE-24AB-2E09042EF5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085" y="4618066"/>
            <a:ext cx="1783709" cy="212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1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04DEC0-232C-3BA7-1866-3F8EFB25F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85" b="28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49CA722D-4C9C-BBD6-51C2-8DAE408C5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658" y="3331687"/>
            <a:ext cx="6313715" cy="340797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1C5114-4FB3-4F54-F69A-B3A7C0294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229" y="129420"/>
            <a:ext cx="6197600" cy="241017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22DDF91-4F89-B3DE-BE47-8F24B5FDEB6F}"/>
              </a:ext>
            </a:extLst>
          </p:cNvPr>
          <p:cNvSpPr/>
          <p:nvPr/>
        </p:nvSpPr>
        <p:spPr>
          <a:xfrm rot="5400000">
            <a:off x="5130800" y="2315030"/>
            <a:ext cx="1349826" cy="928914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9539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C3A74-AE57-82CF-46D2-7E6F545D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driving a car&#10;&#10;AI-generated content may be incorrect.">
            <a:extLst>
              <a:ext uri="{FF2B5EF4-FFF2-40B4-BE49-F238E27FC236}">
                <a16:creationId xmlns:a16="http://schemas.microsoft.com/office/drawing/2014/main" id="{E365BF70-9844-C281-FC7F-24AB4D0C04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E477A06-911A-C019-082C-C3A7A7789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6C986D-232E-7165-9961-2FA4B06F7B3F}"/>
              </a:ext>
            </a:extLst>
          </p:cNvPr>
          <p:cNvSpPr/>
          <p:nvPr/>
        </p:nvSpPr>
        <p:spPr>
          <a:xfrm>
            <a:off x="159658" y="145143"/>
            <a:ext cx="5152571" cy="6560458"/>
          </a:xfrm>
          <a:prstGeom prst="rect">
            <a:avLst/>
          </a:prstGeom>
          <a:solidFill>
            <a:schemeClr val="dk1">
              <a:alpha val="85000"/>
            </a:schemeClr>
          </a:solidFill>
          <a:ln w="28575">
            <a:solidFill>
              <a:schemeClr val="bg1">
                <a:alpha val="96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43CC3-AF6C-4EDC-D941-65DAF440D516}"/>
              </a:ext>
            </a:extLst>
          </p:cNvPr>
          <p:cNvSpPr txBox="1"/>
          <p:nvPr/>
        </p:nvSpPr>
        <p:spPr>
          <a:xfrm>
            <a:off x="769256" y="232230"/>
            <a:ext cx="3793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Academic/ Technical Content</a:t>
            </a:r>
            <a:endParaRPr lang="en-IE" sz="20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AD4FC-2959-99ED-2482-2753382B3DB9}"/>
              </a:ext>
            </a:extLst>
          </p:cNvPr>
          <p:cNvSpPr txBox="1"/>
          <p:nvPr/>
        </p:nvSpPr>
        <p:spPr>
          <a:xfrm>
            <a:off x="323850" y="962025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BEF6A2-B8E2-4180-9DF0-C45C952476D9}"/>
              </a:ext>
            </a:extLst>
          </p:cNvPr>
          <p:cNvSpPr txBox="1"/>
          <p:nvPr/>
        </p:nvSpPr>
        <p:spPr>
          <a:xfrm>
            <a:off x="267274" y="910155"/>
            <a:ext cx="4791075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6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Complex Technical Development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Built hands-free car infotainment system using gesture/voice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Integrated React frontend, Node.js backend, Python gesture recognition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sz="106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06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Problem-Solving &amp; Independence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Resolved Spotify API ban by pivoting to local music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Fixed TensorFlow issue by switching to </a:t>
            </a:r>
            <a:r>
              <a:rPr lang="en-IE" sz="106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endParaRPr lang="en-IE" sz="106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Worked independently, with guidance from supervisor and advice from peers.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sz="106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06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Unique Code &amp; Algorithms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Developed custom gesture recognition algorithm with </a:t>
            </a:r>
            <a:r>
              <a:rPr lang="en-IE" sz="106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endParaRPr lang="en-IE" sz="106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Created </a:t>
            </a:r>
            <a:r>
              <a:rPr lang="en-IE" sz="106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AIInterface</a:t>
            </a: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for voice command processing with OpenAI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Implemented real-time Socket.IO integration for gesture updates</a:t>
            </a:r>
          </a:p>
          <a:p>
            <a:endParaRPr lang="en-IE" sz="106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06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Software Design &amp; Analysis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Designed React components (</a:t>
            </a:r>
            <a:r>
              <a:rPr lang="en-IE" sz="106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GoogleMapComponent</a:t>
            </a: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IE" sz="106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MusicPlayer</a:t>
            </a: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Analysed RSA/NHTSA stats  to prioritise hands-free safety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Evaluated gesture accuracy (custom dataset vs. </a:t>
            </a:r>
            <a:r>
              <a:rPr lang="en-IE" sz="106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)</a:t>
            </a:r>
          </a:p>
          <a:p>
            <a:endParaRPr lang="en-IE" sz="106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06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External Technologies &amp; Third-Party Use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Used Web Speech API for voice 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Integrated Google Maps API, OpenAI API with proper refs [2], [3]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Avoided overusing tutorials, built unique logic for gesture detection</a:t>
            </a:r>
          </a:p>
          <a:p>
            <a:endParaRPr lang="en-IE" sz="106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Plagiarism Awareness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06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Properly cited and referenced third-party APIs/ libraries and information within reports </a:t>
            </a:r>
          </a:p>
        </p:txBody>
      </p:sp>
    </p:spTree>
    <p:extLst>
      <p:ext uri="{BB962C8B-B14F-4D97-AF65-F5344CB8AC3E}">
        <p14:creationId xmlns:p14="http://schemas.microsoft.com/office/powerpoint/2010/main" val="261686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D6C71-4C68-306F-436F-DE69E110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driving a car&#10;&#10;AI-generated content may be incorrect.">
            <a:extLst>
              <a:ext uri="{FF2B5EF4-FFF2-40B4-BE49-F238E27FC236}">
                <a16:creationId xmlns:a16="http://schemas.microsoft.com/office/drawing/2014/main" id="{C8CEAFC6-3BCE-0F93-FA04-88ABF1C00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B596298-ECDD-8C24-B8BB-1AF2A189B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756877-4B89-62B5-0371-2D90E4CE5087}"/>
              </a:ext>
            </a:extLst>
          </p:cNvPr>
          <p:cNvSpPr/>
          <p:nvPr/>
        </p:nvSpPr>
        <p:spPr>
          <a:xfrm>
            <a:off x="159658" y="145143"/>
            <a:ext cx="5152571" cy="6560458"/>
          </a:xfrm>
          <a:prstGeom prst="rect">
            <a:avLst/>
          </a:prstGeom>
          <a:solidFill>
            <a:schemeClr val="dk1">
              <a:alpha val="85000"/>
            </a:schemeClr>
          </a:solidFill>
          <a:ln w="28575">
            <a:solidFill>
              <a:schemeClr val="bg1">
                <a:alpha val="96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D49A9-5B14-41F1-8FC5-EA035DB5EC28}"/>
              </a:ext>
            </a:extLst>
          </p:cNvPr>
          <p:cNvSpPr txBox="1"/>
          <p:nvPr/>
        </p:nvSpPr>
        <p:spPr>
          <a:xfrm>
            <a:off x="1016000" y="203200"/>
            <a:ext cx="3410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Demonstration of Understanding</a:t>
            </a:r>
            <a:endParaRPr lang="en-IE" sz="28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4E38C7-9AD3-9553-EFE7-92211B304F54}"/>
              </a:ext>
            </a:extLst>
          </p:cNvPr>
          <p:cNvSpPr txBox="1"/>
          <p:nvPr/>
        </p:nvSpPr>
        <p:spPr>
          <a:xfrm>
            <a:off x="342900" y="1304925"/>
            <a:ext cx="43148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Overall Project Idea &amp; Purpose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Hands-free car infotainment to reduce driver distraction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Integrated gesture/voice control for navigation, music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Implementation Overview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React frontend for UI, Node.js backend for voice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Python script for gesture recognition, linked via Socket.IO</a:t>
            </a:r>
          </a:p>
          <a:p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Field Insights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In-vehicle tech: Hands-free aligns with safety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Gesture/voice control: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OpenAI API benefits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Deep Learning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Mastered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for precise gesture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Learned Web Speech API for robust voice 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Understood Socket.IO for real-time system sync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Code Reuse &amp; Acknowledgment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Reused Socket.IO [2], </a:t>
            </a:r>
            <a:r>
              <a:rPr lang="en-IE" sz="12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MediaPipe</a:t>
            </a:r>
            <a:r>
              <a:rPr lang="en-IE" sz="12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examples [3], cited properly</a:t>
            </a:r>
          </a:p>
          <a:p>
            <a:endParaRPr lang="en-IE" sz="1200" b="1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endParaRPr lang="en-IE" sz="12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183B7-367C-BB90-F4C9-55F6CFC21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649" y="205113"/>
            <a:ext cx="3704551" cy="20575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92B077-08EB-1318-B338-9A0F45A79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634503"/>
            <a:ext cx="3306618" cy="1774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C40941-F10D-A5DD-B5A2-5C2AC663D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080" y="4591998"/>
            <a:ext cx="3759200" cy="195833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85D2CD9-4262-D970-8F49-76C60D7BEEDE}"/>
              </a:ext>
            </a:extLst>
          </p:cNvPr>
          <p:cNvSpPr/>
          <p:nvPr/>
        </p:nvSpPr>
        <p:spPr>
          <a:xfrm rot="5400000">
            <a:off x="6365240" y="2189480"/>
            <a:ext cx="812800" cy="59944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EDDD952-DE0C-351B-F113-F8A0969CC0A3}"/>
              </a:ext>
            </a:extLst>
          </p:cNvPr>
          <p:cNvSpPr/>
          <p:nvPr/>
        </p:nvSpPr>
        <p:spPr>
          <a:xfrm rot="5400000">
            <a:off x="6421120" y="4257040"/>
            <a:ext cx="751840" cy="56896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6175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2F892-C87A-8C6C-8A5F-BA61ED67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driving a car&#10;&#10;AI-generated content may be incorrect.">
            <a:extLst>
              <a:ext uri="{FF2B5EF4-FFF2-40B4-BE49-F238E27FC236}">
                <a16:creationId xmlns:a16="http://schemas.microsoft.com/office/drawing/2014/main" id="{D67AF043-8745-35CE-C282-4A46534C19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6C7FF92-D819-157E-A78A-B796EA2BE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D2BFD6-A2D8-B5F7-9304-F0D2DE9E2D29}"/>
              </a:ext>
            </a:extLst>
          </p:cNvPr>
          <p:cNvSpPr/>
          <p:nvPr/>
        </p:nvSpPr>
        <p:spPr>
          <a:xfrm>
            <a:off x="159658" y="145143"/>
            <a:ext cx="5152571" cy="6560458"/>
          </a:xfrm>
          <a:prstGeom prst="rect">
            <a:avLst/>
          </a:prstGeom>
          <a:solidFill>
            <a:schemeClr val="dk1">
              <a:alpha val="85000"/>
            </a:schemeClr>
          </a:solidFill>
          <a:ln w="28575">
            <a:solidFill>
              <a:schemeClr val="bg1">
                <a:alpha val="96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B767BB-C8E2-66C5-0E59-91BBCBE4443B}"/>
              </a:ext>
            </a:extLst>
          </p:cNvPr>
          <p:cNvSpPr txBox="1"/>
          <p:nvPr/>
        </p:nvSpPr>
        <p:spPr>
          <a:xfrm>
            <a:off x="1407885" y="217715"/>
            <a:ext cx="3077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Organisation</a:t>
            </a:r>
            <a:endParaRPr lang="en-IE" sz="28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6D8127-5CB7-4205-C96F-DB3321737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324" y="132671"/>
            <a:ext cx="4046901" cy="1638553"/>
          </a:xfrm>
          <a:prstGeom prst="rect">
            <a:avLst/>
          </a:prstGeom>
        </p:spPr>
      </p:pic>
      <p:pic>
        <p:nvPicPr>
          <p:cNvPr id="5" name="Picture 4" descr="Jira &#10;Your work v &#10;Projects v Filters v Dashboards v Teams &#10;Projects / Final Year Project (FYP 2025) &#10;SCRUM sprint 2 &#10;Q Search &#10;TO DO 16 &#10;Hardware Components &#10;Acquisition: Order all required &#10;hardware components (ESP32- &#10;S3, OV2640 camera, &#10;MAX9856632A etc.). &#10;SCRUM-3 &#10;Basic Microcontroller &#10;Programming: Start with basic &#10;programming on the ESP32-S3, &#10;focusing on the fundamentals of &#10;GPIO and sensor reading. &#10;SCRUM-6 &#10;Voice Control Implementation: &#10;Begin integrating Alexa/Siri API &#10;for voice commands. &#10;SCRUM-9 &#10;Combine Gesture and Voice &#10;Controls: Develop a prototype &#10;that combines both gesture &#10;recognition and voice &#10;commands for music playback. &#10;SCRUM-IO &#10;Plans v &#10;Apps v &#10;Create &#10;5 days &#10;Upgrade &#10;GROUP ay &#10;Q Search &#10;Start stand-up &#10;Final Year Project (FYP 2... &#10;Software project &#10;PLANNING &#10;Timeline &#10;Backlog &#10;Board &#10;Goals &#10;Add view &#10;DEVELOPMENT &#10;Code &#10;Project pages &#10;Project settings &#10;Archived issues NEW &#10;Collaborate on pages in real- &#10;time &#10;Try Confluence &#10;Complete sprint &#10;None v &#10;Insights &#10;—o. View settil &#10;IN PROGRESS 3 &#10;Familiarization with APIs: Explore &#10;Apple Music and Spotify APIs, as &#10;well as Alexa and Siri &#10;integrations. &#10;SCRUM-27 &#10;UI/UX Design: Start designing &#10;the user interface for your &#10;mobile application using Flutter. &#10;SCRUM-12 &#10;Implement Basic Gestures: &#10;Program basic gestures (swipe, &#10;pinch, etc.) using the OV2640 &#10;camera and test the &#10;functionality. &#10;SCRUM-8 &#10;DONE 4 &#10;Basic Microcontroller &#10;Programming: Start with basic &#10;programming on the ESP32-S3, &#10;focusing on the fundamentals of &#10;GPIO and sensor reading. &#10;Familiarization with APIs: Explore &#10;Apple Music and Spotify APIs, as &#10;well as Alexa and Siri &#10;integrations. &#10;seRBM-s &#10;Software Setup: Install necessary &#10;software (Arduino IDE, Flutter, &#10;etc.) and set up development &#10;environment. &#10;Gesture Recognition Research: &#10;Investigate gesture recognition &#10;algorithms and libraries suitable &#10;for your project. ">
            <a:extLst>
              <a:ext uri="{FF2B5EF4-FFF2-40B4-BE49-F238E27FC236}">
                <a16:creationId xmlns:a16="http://schemas.microsoft.com/office/drawing/2014/main" id="{859F7C7B-042C-FF35-3A02-CC8CAACF4C4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"/>
          <a:stretch/>
        </p:blipFill>
        <p:spPr bwMode="auto">
          <a:xfrm>
            <a:off x="6744923" y="1884589"/>
            <a:ext cx="4366215" cy="22504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662156-6CA3-699E-F408-31DB18609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651" y="4191000"/>
            <a:ext cx="2190750" cy="25536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373DDF-E1B0-2474-B318-673F21D82A81}"/>
              </a:ext>
            </a:extLst>
          </p:cNvPr>
          <p:cNvSpPr txBox="1"/>
          <p:nvPr/>
        </p:nvSpPr>
        <p:spPr>
          <a:xfrm>
            <a:off x="383984" y="1031454"/>
            <a:ext cx="44291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Project Organisation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Structured 24 weeks into Jira sprints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Managed solo: Planned, coded, tested, documented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Attended Stand up meetings,  updated OneNote log weekly</a:t>
            </a:r>
          </a:p>
          <a:p>
            <a:endParaRPr lang="en-IE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Task Planning &amp; Reflection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Prioritise major tasks then pivot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Weekly reflections: Adjusted plans post-API ban</a:t>
            </a:r>
          </a:p>
          <a:p>
            <a:endParaRPr lang="en-IE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Plan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Updated Jira: Added pivot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Documented timeline</a:t>
            </a:r>
          </a:p>
          <a:p>
            <a:endParaRPr lang="en-IE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Commits to </a:t>
            </a:r>
            <a:r>
              <a:rPr lang="en-IE" sz="14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Github</a:t>
            </a:r>
            <a:endParaRPr lang="en-IE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Committed code to GitHub repository</a:t>
            </a:r>
          </a:p>
          <a:p>
            <a:endParaRPr lang="en-IE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Demo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Prepared demo: Tested gestures, voice commands</a:t>
            </a:r>
          </a:p>
        </p:txBody>
      </p:sp>
    </p:spTree>
    <p:extLst>
      <p:ext uri="{BB962C8B-B14F-4D97-AF65-F5344CB8AC3E}">
        <p14:creationId xmlns:p14="http://schemas.microsoft.com/office/powerpoint/2010/main" val="413013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44E10-E218-3651-5264-626103717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driving a car&#10;&#10;AI-generated content may be incorrect.">
            <a:extLst>
              <a:ext uri="{FF2B5EF4-FFF2-40B4-BE49-F238E27FC236}">
                <a16:creationId xmlns:a16="http://schemas.microsoft.com/office/drawing/2014/main" id="{93F1CEE4-C191-C417-8C2B-D82ABCE77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0C4001C-5D61-9704-BE8C-9FF17C0E1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918A17-4824-CE3A-20F5-427707EEC511}"/>
              </a:ext>
            </a:extLst>
          </p:cNvPr>
          <p:cNvSpPr/>
          <p:nvPr/>
        </p:nvSpPr>
        <p:spPr>
          <a:xfrm>
            <a:off x="159658" y="145143"/>
            <a:ext cx="5152571" cy="6560458"/>
          </a:xfrm>
          <a:prstGeom prst="rect">
            <a:avLst/>
          </a:prstGeom>
          <a:solidFill>
            <a:schemeClr val="dk1">
              <a:alpha val="85000"/>
            </a:schemeClr>
          </a:solidFill>
          <a:ln w="28575">
            <a:solidFill>
              <a:schemeClr val="bg1">
                <a:alpha val="96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5EDEAC-22DF-59A1-9130-1C2C5454C24A}"/>
              </a:ext>
            </a:extLst>
          </p:cNvPr>
          <p:cNvSpPr txBox="1"/>
          <p:nvPr/>
        </p:nvSpPr>
        <p:spPr>
          <a:xfrm>
            <a:off x="1248228" y="137887"/>
            <a:ext cx="3077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Initiative And Engagement</a:t>
            </a:r>
            <a:endParaRPr lang="en-IE" sz="2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E0DC2-57F2-940F-B3EC-00362AF511F0}"/>
              </a:ext>
            </a:extLst>
          </p:cNvPr>
          <p:cNvSpPr txBox="1"/>
          <p:nvPr/>
        </p:nvSpPr>
        <p:spPr>
          <a:xfrm>
            <a:off x="220436" y="912273"/>
            <a:ext cx="474345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bg1"/>
                </a:solidFill>
              </a:rPr>
              <a:t>Proactive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Self initiated pivot after Spotify API ban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Explored TensorFlow for gestures before </a:t>
            </a:r>
            <a:r>
              <a:rPr lang="en-IE" sz="1600" dirty="0" err="1">
                <a:solidFill>
                  <a:schemeClr val="bg1"/>
                </a:solidFill>
              </a:rPr>
              <a:t>MediaPipe</a:t>
            </a:r>
            <a:r>
              <a:rPr lang="en-IE" sz="1600" dirty="0">
                <a:solidFill>
                  <a:schemeClr val="bg1"/>
                </a:solidFill>
              </a:rPr>
              <a:t> switch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Approached my project to be unique as possible – proactively looking for areas to improve</a:t>
            </a:r>
          </a:p>
          <a:p>
            <a:endParaRPr lang="en-IE" sz="1600" dirty="0">
              <a:solidFill>
                <a:schemeClr val="bg1"/>
              </a:solidFill>
            </a:endParaRPr>
          </a:p>
          <a:p>
            <a:r>
              <a:rPr lang="en-IE" sz="1600" dirty="0">
                <a:solidFill>
                  <a:schemeClr val="bg1"/>
                </a:solidFill>
              </a:rPr>
              <a:t>Self-Motivation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Solo project: Managed 24 weeks,  Jira sprints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Consistently met deadlines despite challenges and other module deadlines</a:t>
            </a:r>
          </a:p>
          <a:p>
            <a:endParaRPr lang="en-IE" sz="1600" dirty="0">
              <a:solidFill>
                <a:schemeClr val="bg1"/>
              </a:solidFill>
            </a:endParaRPr>
          </a:p>
          <a:p>
            <a:r>
              <a:rPr lang="en-IE" sz="1600" dirty="0">
                <a:solidFill>
                  <a:schemeClr val="bg1"/>
                </a:solidFill>
              </a:rPr>
              <a:t>Seeking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Consulted supervisor on pivot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Incorporated peer feedback on different aspect of project and also on report review</a:t>
            </a:r>
          </a:p>
          <a:p>
            <a:endParaRPr lang="en-IE" sz="1600" dirty="0">
              <a:solidFill>
                <a:schemeClr val="bg1"/>
              </a:solidFill>
            </a:endParaRPr>
          </a:p>
          <a:p>
            <a:r>
              <a:rPr lang="en-IE" sz="1600" dirty="0">
                <a:solidFill>
                  <a:schemeClr val="bg1"/>
                </a:solidFill>
              </a:rPr>
              <a:t>Engagement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Presented progress at review sessions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Engaged users during Apr. 2025 demo for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Stand up Meetings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chemeClr val="bg1"/>
                </a:solidFill>
              </a:rPr>
              <a:t>General checkup with peers during project class</a:t>
            </a:r>
          </a:p>
        </p:txBody>
      </p:sp>
    </p:spTree>
    <p:extLst>
      <p:ext uri="{BB962C8B-B14F-4D97-AF65-F5344CB8AC3E}">
        <p14:creationId xmlns:p14="http://schemas.microsoft.com/office/powerpoint/2010/main" val="64150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background with lines and dots&#10;&#10;AI-generated content may be incorrect.">
            <a:extLst>
              <a:ext uri="{FF2B5EF4-FFF2-40B4-BE49-F238E27FC236}">
                <a16:creationId xmlns:a16="http://schemas.microsoft.com/office/drawing/2014/main" id="{8435DCC7-0896-CD7D-11AD-3068D225A0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4C5966-9DD3-6E6A-B11B-DDDEED107638}"/>
              </a:ext>
            </a:extLst>
          </p:cNvPr>
          <p:cNvSpPr/>
          <p:nvPr/>
        </p:nvSpPr>
        <p:spPr>
          <a:xfrm>
            <a:off x="666751" y="1171575"/>
            <a:ext cx="10839450" cy="4933950"/>
          </a:xfrm>
          <a:prstGeom prst="rect">
            <a:avLst/>
          </a:prstGeom>
          <a:solidFill>
            <a:schemeClr val="dk1">
              <a:alpha val="85000"/>
            </a:schemeClr>
          </a:solidFill>
          <a:ln w="28575">
            <a:solidFill>
              <a:schemeClr val="bg1">
                <a:alpha val="96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B85CB-8025-F18E-58F9-B0EF50D24926}"/>
              </a:ext>
            </a:extLst>
          </p:cNvPr>
          <p:cNvSpPr txBox="1"/>
          <p:nvPr/>
        </p:nvSpPr>
        <p:spPr>
          <a:xfrm>
            <a:off x="4114800" y="1381125"/>
            <a:ext cx="372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References</a:t>
            </a:r>
            <a:endParaRPr lang="en-IE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E01CD-60DF-571B-289D-9F03FB68224F}"/>
              </a:ext>
            </a:extLst>
          </p:cNvPr>
          <p:cNvSpPr txBox="1"/>
          <p:nvPr/>
        </p:nvSpPr>
        <p:spPr>
          <a:xfrm>
            <a:off x="881743" y="1894114"/>
            <a:ext cx="9448800" cy="4160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Google, "Google Maps Platform Documentation," Google Cloud, 2025. [Online]. Available: https://developers.google.com/maps/documentation. [Accessed: Apr. 12, 2025].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 OpenAI, "OpenAI API Documentation," OpenAI, 2025. [Online]. Available: https://platform.openai.com/docs/api-reference. [Accessed: Apr. 12, 2025].</a:t>
            </a:r>
          </a:p>
          <a:p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Google, "</a:t>
            </a:r>
            <a:r>
              <a:rPr lang="en-IE" sz="14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MediaPipe</a:t>
            </a: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Hands Documentation," </a:t>
            </a:r>
            <a:r>
              <a:rPr lang="en-IE" sz="14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MediaPipe</a:t>
            </a: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2025. [Online]. Available: https://developers.google.com/mediapipe/solutions/vision/hand_landmarker. [Accessed: Apr. 12, 2025].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React, "React Documentation," React, 2025. [Online]. Available: https://react.dev/reference. [Accessed: Apr. 14, 2025].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Socket.IO, "Socket.IO Documentation," Socket.IO, 2025. [Online]. Available: https://socket.io/docs/v4/. [Accessed: Apr. 15, 2025].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  <a:tabLst>
                <a:tab pos="2258060" algn="l"/>
              </a:tabLst>
            </a:pP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OpenCV Team, "OpenCV: Real-Time Computer Vision with OpenCV," OpenCV Documentation, 2025. [Online]. Available: </a:t>
            </a:r>
            <a:r>
              <a:rPr lang="en-IE" sz="14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https://docs.opencv.org/4.x/</a:t>
            </a:r>
            <a:r>
              <a:rPr lang="en-I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[Accessed: Apr. 25, 2025].</a:t>
            </a:r>
          </a:p>
          <a:p>
            <a:endParaRPr lang="en-I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05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7361</TotalTime>
  <Words>893</Words>
  <Application>Microsoft Office PowerPoint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Biome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OLAMIDE ADEROGBA - STUDENT</dc:creator>
  <cp:lastModifiedBy>OLAMIDE ADEROGBA - STUDENT</cp:lastModifiedBy>
  <cp:revision>2</cp:revision>
  <dcterms:created xsi:type="dcterms:W3CDTF">2025-04-20T23:25:11Z</dcterms:created>
  <dcterms:modified xsi:type="dcterms:W3CDTF">2025-04-28T13:56:44Z</dcterms:modified>
</cp:coreProperties>
</file>